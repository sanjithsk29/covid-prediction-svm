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971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B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BASELINES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0002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COVID-19 Chest X-Ray Survival Prediction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34086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Pretrained DenseNet features, evaluated across geographical regions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22120"/>
            <a:ext cx="1088339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chest X-ray features predict patient survival, and does that hold in a region the model has never seen?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98196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task: binary survival classification from X-ray-derived features, evaluated with leave-one-region-out validation.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5"/>
            <a:ext cx="5175250" cy="1385570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870"/>
            <a:ext cx="48007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256789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Chest X-rays, anteroposterior (AP) or posteroanterior (PA) views only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5"/>
            <a:ext cx="5175250" cy="1385570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880870"/>
            <a:ext cx="48007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7950" y="2256789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findings, survival status, patient information, image view, region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218814"/>
            <a:ext cx="5175250" cy="1385570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475989"/>
            <a:ext cx="48007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3150" y="3851911"/>
            <a:ext cx="48007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survival label: survived or did not survive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218814"/>
            <a:ext cx="5175250" cy="1385570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3475989"/>
            <a:ext cx="48007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7950" y="3851911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COVID-19 Chest X-ray Dataset, loaded through TorchXRayVision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Eligibility filtering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5"/>
            <a:ext cx="3380317" cy="1418590"/>
          </a:xfrm>
          <a:prstGeom prst="roundRect">
            <a:avLst>
              <a:gd name="adj" fmla="val 693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870"/>
            <a:ext cx="295194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256789"/>
            <a:ext cx="295194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Survival status is known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842" y="1623695"/>
            <a:ext cx="3380317" cy="1418590"/>
          </a:xfrm>
          <a:prstGeom prst="roundRect">
            <a:avLst>
              <a:gd name="adj" fmla="val 693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017" y="1880870"/>
            <a:ext cx="295194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017" y="2256789"/>
            <a:ext cx="295194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intubation present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708" y="1623695"/>
            <a:ext cx="3380317" cy="1418590"/>
          </a:xfrm>
          <a:prstGeom prst="roundRect">
            <a:avLst>
              <a:gd name="adj" fmla="val 6938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83" y="1880870"/>
            <a:ext cx="295194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883" y="2256789"/>
            <a:ext cx="2951946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offset greater than 0 and less than 8 days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350261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50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records meeting every criterion are used, so the final sample size depends on missing values. Records with an unknown region are excluded from the region-aware classifier benchmark.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Feature-extraction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2489200" cy="1577340"/>
          </a:xfrm>
          <a:prstGeom prst="roundRect">
            <a:avLst>
              <a:gd name="adj" fmla="val 6441"/>
            </a:avLst>
          </a:prstGeom>
          <a:solidFill>
            <a:srgbClr val="1A2A4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521"/>
            <a:ext cx="204063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B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Preprocess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50439"/>
            <a:ext cx="20406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Center crop and resize to 224 × 224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05200" y="1620521"/>
            <a:ext cx="2489200" cy="1577340"/>
          </a:xfrm>
          <a:prstGeom prst="roundRect">
            <a:avLst>
              <a:gd name="adj" fmla="val 6441"/>
            </a:avLst>
          </a:prstGeom>
          <a:solidFill>
            <a:srgbClr val="1A2A42"/>
          </a:solidFill>
          <a:ln/>
        </p:spPr>
      </p:sp>
      <p:sp>
        <p:nvSpPr>
          <p:cNvPr id="7" name="Text 5"/>
          <p:cNvSpPr/>
          <p:nvPr/>
        </p:nvSpPr>
        <p:spPr>
          <a:xfrm>
            <a:off x="3759200" y="1874521"/>
            <a:ext cx="204063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B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Extract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59200" y="2250439"/>
            <a:ext cx="204063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Pretrained DenseNet from TorchXRayVision, inference only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7600" y="1620521"/>
            <a:ext cx="2489200" cy="1577340"/>
          </a:xfrm>
          <a:prstGeom prst="roundRect">
            <a:avLst>
              <a:gd name="adj" fmla="val 6441"/>
            </a:avLst>
          </a:prstGeom>
          <a:solidFill>
            <a:srgbClr val="1A2A42"/>
          </a:solidFill>
          <a:ln/>
        </p:spPr>
      </p:sp>
      <p:sp>
        <p:nvSpPr>
          <p:cNvPr id="10" name="Text 8"/>
          <p:cNvSpPr/>
          <p:nvPr/>
        </p:nvSpPr>
        <p:spPr>
          <a:xfrm>
            <a:off x="6451600" y="1874521"/>
            <a:ext cx="204063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B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Collect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51600" y="2250439"/>
            <a:ext cx="204063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Intermediate features and pathology predictions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90000" y="1620521"/>
            <a:ext cx="2489200" cy="1577340"/>
          </a:xfrm>
          <a:prstGeom prst="roundRect">
            <a:avLst>
              <a:gd name="adj" fmla="val 6441"/>
            </a:avLst>
          </a:prstGeom>
          <a:solidFill>
            <a:srgbClr val="1A2A4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874521"/>
            <a:ext cx="204063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B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Classify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0" y="2250439"/>
            <a:ext cx="2040636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classifiers on the extracted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50266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CNN is trained from scratch; the pretrained representations are reused for the downstream task.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Representations compared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1337310"/>
          </a:xfrm>
          <a:prstGeom prst="roundRect">
            <a:avLst>
              <a:gd name="adj" fmla="val 736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871"/>
            <a:ext cx="48007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Intermediate DenseNet features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3150" y="2241550"/>
            <a:ext cx="48007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vectors taken from inside the network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6"/>
            <a:ext cx="5175250" cy="1337310"/>
          </a:xfrm>
          <a:prstGeom prst="roundRect">
            <a:avLst>
              <a:gd name="adj" fmla="val 736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880871"/>
            <a:ext cx="48007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Pathology outputs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57950" y="2241550"/>
            <a:ext cx="48007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model's predictions for chest radiographic pathologies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3170554"/>
            <a:ext cx="5175250" cy="1337310"/>
          </a:xfrm>
          <a:prstGeom prst="roundRect">
            <a:avLst>
              <a:gd name="adj" fmla="val 736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427729"/>
            <a:ext cx="48007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pathology outputs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73150" y="3788411"/>
            <a:ext cx="48007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chosen subset of those predictions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0775" y="3170554"/>
            <a:ext cx="5175250" cy="1337310"/>
          </a:xfrm>
          <a:prstGeom prst="roundRect">
            <a:avLst>
              <a:gd name="adj" fmla="val 736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3427729"/>
            <a:ext cx="48007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Class-prevalence baseline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57950" y="3788411"/>
            <a:ext cx="48007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only target-class frequency, as the reference point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481583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50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is to see whether image-derived features add information beyond a simple baseline.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and classifiers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5181600" cy="1880870"/>
          </a:xfrm>
          <a:prstGeom prst="roundRect">
            <a:avLst>
              <a:gd name="adj" fmla="val 5402"/>
            </a:avLst>
          </a:prstGeom>
          <a:solidFill>
            <a:srgbClr val="1A2A4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521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B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Leave-one-region-out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250439"/>
            <a:ext cx="4813808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fold holds out one region for testing and trains on the others. This tests cross-region generalization, not a random split of examples.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1620521"/>
            <a:ext cx="5181600" cy="1880870"/>
          </a:xfrm>
          <a:prstGeom prst="roundRect">
            <a:avLst>
              <a:gd name="adj" fmla="val 5402"/>
            </a:avLst>
          </a:prstGeom>
          <a:solidFill>
            <a:srgbClr val="1A2A42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74521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B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classifiers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29070" y="2250439"/>
            <a:ext cx="4728718" cy="1022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</a:t>
            </a:r>
            <a:endParaRPr lang="en-US" sz="1500" dirty="0"/>
          </a:p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RBF support vector classifier</a:t>
            </a:r>
            <a:endParaRPr lang="en-US" sz="1500" dirty="0"/>
          </a:p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Trees</a:t>
            </a:r>
            <a:endParaRPr lang="en-US" sz="1500" dirty="0"/>
          </a:p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806189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and SVM models use standardized features; tree models use 500 estimators with class weighting. Metrics: AUROC and AUPRC.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Results: region-aware benchmark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221"/>
          <a:ext cx="10553700" cy="2933700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Classifier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Mean AUROC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Mean AUPRC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8F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 Trees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8F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0.697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8F8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0.943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Random Forest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0.683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0.935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Logistic Regression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0.678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0.936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RBF Support Vector Classifier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0.564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0.895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the numbers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5181600" cy="1706880"/>
          </a:xfrm>
          <a:prstGeom prst="roundRect">
            <a:avLst>
              <a:gd name="adj" fmla="val 5952"/>
            </a:avLst>
          </a:prstGeom>
          <a:solidFill>
            <a:srgbClr val="1A2A4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521"/>
            <a:ext cx="481380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2BB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0.697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066800" y="2788921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Trees mean AUROC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7600" y="1620521"/>
            <a:ext cx="5181600" cy="1706880"/>
          </a:xfrm>
          <a:prstGeom prst="roundRect">
            <a:avLst>
              <a:gd name="adj" fmla="val 5952"/>
            </a:avLst>
          </a:prstGeom>
          <a:solidFill>
            <a:srgbClr val="1A2A42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74521"/>
            <a:ext cx="481380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88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0.943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51600" y="2788921"/>
            <a:ext cx="481380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Trees mean AUPRC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63220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9C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AUPRC can stay high when the positive class is common, so the moderate AUROC is the better signal: survival discrimination across regions remains challenging.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and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2134870"/>
          </a:xfrm>
          <a:prstGeom prst="roundRect">
            <a:avLst>
              <a:gd name="adj" fmla="val 461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871"/>
            <a:ext cx="48007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0620" y="2256792"/>
            <a:ext cx="4715637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 held-out regions and eligible patients</a:t>
            </a:r>
            <a:endParaRPr lang="en-US" sz="1500" dirty="0"/>
          </a:p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may vary by region</a:t>
            </a:r>
            <a:endParaRPr lang="en-US" sz="1500" dirty="0"/>
          </a:p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not show X-rays alone give reliable survival prediction</a:t>
            </a:r>
            <a:endParaRPr lang="en-US" sz="1500" dirty="0"/>
          </a:p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Exploratory, not clinical readiness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6"/>
            <a:ext cx="5175250" cy="2134870"/>
          </a:xfrm>
          <a:prstGeom prst="roundRect">
            <a:avLst>
              <a:gd name="adj" fmla="val 461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880871"/>
            <a:ext cx="480072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8F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5420" y="2256792"/>
            <a:ext cx="4715637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Larger, more representative datasets</a:t>
            </a:r>
            <a:endParaRPr lang="en-US" sz="1500" dirty="0"/>
          </a:p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Patient-level deduplication</a:t>
            </a:r>
            <a:endParaRPr lang="en-US" sz="1500" dirty="0"/>
          </a:p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Wider validation and uncertainty estimation</a:t>
            </a:r>
            <a:endParaRPr lang="en-US" sz="1500" dirty="0"/>
          </a:p>
          <a:p>
            <a:pPr algn="l" marL="176530" indent="-17653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assessment and independent external validation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ID-19 Chest X-Ray Survival Prediction">
  <a:themeElements>
    <a:clrScheme name="COVID-19 Chest X-Ray Survival Prediction">
      <a:dk1>
        <a:srgbClr val="14202E"/>
      </a:dk1>
      <a:lt1>
        <a:srgbClr val="F4F1EA"/>
      </a:lt1>
      <a:dk2>
        <a:srgbClr val="4C545D"/>
      </a:dk2>
      <a:lt2>
        <a:srgbClr val="DEDCD7"/>
      </a:lt2>
      <a:accent1>
        <a:srgbClr val="1F8F82"/>
      </a:accent1>
      <a:accent2>
        <a:srgbClr val="2BB3A3"/>
      </a:accent2>
      <a:accent3>
        <a:srgbClr val="E8833A"/>
      </a:accent3>
      <a:accent4>
        <a:srgbClr val="B9C3D0"/>
      </a:accent4>
      <a:accent5>
        <a:srgbClr val="44505E"/>
      </a:accent5>
      <a:accent6>
        <a:srgbClr val="9AA0A6"/>
      </a:accent6>
      <a:hlink>
        <a:srgbClr val="0563C1"/>
      </a:hlink>
      <a:folHlink>
        <a:srgbClr val="954F72"/>
      </a:folHlink>
    </a:clrScheme>
    <a:fontScheme name="COVID-19 Chest X-Ray Survival Prediction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Chest X-Ray Survival Prediction</dc:title>
  <dc:subject/>
  <dc:creator/>
  <cp:lastModifiedBy/>
  <cp:revision>1</cp:revision>
  <dcterms:created xsi:type="dcterms:W3CDTF">2026-10-15T03:23:07Z</dcterms:created>
  <dcterms:modified xsi:type="dcterms:W3CDTF">2026-10-15T03:23:07Z</dcterms:modified>
</cp:coreProperties>
</file>